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  <p:sldId id="90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C4695C-DB8F-42AC-BA50-4793688A126B}" v="303" dt="2026-08-29T04:40:12.1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6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28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28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28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28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28 August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28 August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28 August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28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28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28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28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28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Date&amp; Time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2402759"/>
              </p:ext>
            </p:extLst>
          </p:nvPr>
        </p:nvGraphicFramePr>
        <p:xfrm>
          <a:off x="8193271" y="4898509"/>
          <a:ext cx="3702050" cy="79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rtl="0" eaLnBrk="1" latinLnBrk="0" hangingPunct="1"/>
                      <a:r>
                        <a:rPr lang="en-IN" sz="1600" b="1" kern="1200">
                          <a:solidFill>
                            <a:schemeClr val="dk1"/>
                          </a:solidFill>
                          <a:latin typeface="Times New Roman"/>
                          <a:ea typeface="Cambria"/>
                          <a:cs typeface="Times New Roman"/>
                        </a:rPr>
                        <a:t>Name :S.LAKSHMI ABHISHIKTHA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1400" b="1" kern="1200">
                          <a:solidFill>
                            <a:schemeClr val="dk1"/>
                          </a:solidFill>
                          <a:latin typeface="Times New Roman"/>
                          <a:ea typeface="Cambria"/>
                          <a:cs typeface="Times New Roman"/>
                        </a:rPr>
                        <a:t>Roll Number: 2420030792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6200353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/>
                          <a:ea typeface="Cambria"/>
                          <a:cs typeface="Times New Roman"/>
                          <a:sym typeface="Cambria"/>
                        </a:rPr>
                        <a:t>Dr. NEELIMA GOGINENI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/>
                          <a:ea typeface="Cambria"/>
                          <a:cs typeface="Times New Roman"/>
                        </a:rPr>
                        <a:t>ASSOCIATE Professor</a:t>
                      </a:r>
                      <a:r>
                        <a:rPr lang="en-US" sz="1400">
                          <a:solidFill>
                            <a:schemeClr val="dk1"/>
                          </a:solidFill>
                          <a:latin typeface="Times New Roman"/>
                          <a:ea typeface="Cambria"/>
                          <a:cs typeface="Times New Roman"/>
                          <a:sym typeface="Cambria"/>
                        </a:rPr>
                        <a:t>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138499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/>
            </a:pPr>
            <a:r>
              <a:rPr lang="en-IN" sz="2800" b="1">
                <a:solidFill>
                  <a:schemeClr val="bg1"/>
                </a:solidFill>
                <a:latin typeface="Times New Roman"/>
                <a:cs typeface="Times New Roman"/>
              </a:rPr>
              <a:t>AI-Driven</a:t>
            </a:r>
            <a:r>
              <a:rPr lang="en-IN" sz="2800" b="1">
                <a:solidFill>
                  <a:schemeClr val="bg1"/>
                </a:solidFill>
                <a:latin typeface="Times New Roman"/>
                <a:ea typeface="+mn-lt"/>
                <a:cs typeface="Times New Roman"/>
              </a:rPr>
              <a:t> Agentic Healthcare Assistance and Intelligent </a:t>
            </a:r>
            <a:r>
              <a:rPr lang="en-IN" sz="2800" b="1" dirty="0">
                <a:solidFill>
                  <a:schemeClr val="bg1"/>
                </a:solidFill>
                <a:latin typeface="Times New Roman"/>
                <a:ea typeface="+mn-lt"/>
                <a:cs typeface="Times New Roman"/>
              </a:rPr>
              <a:t>Referral Management Platform</a:t>
            </a:r>
            <a:endParaRPr lang="en-US" sz="3600">
              <a:solidFill>
                <a:schemeClr val="bg1"/>
              </a:solidFill>
              <a:latin typeface="Times New Roman"/>
              <a:ea typeface="+mn-lt"/>
              <a:cs typeface="Times New Roman"/>
            </a:endParaRPr>
          </a:p>
          <a:p>
            <a:pPr lvl="0" algn="ctr">
              <a:defRPr/>
            </a:pPr>
            <a:endParaRPr lang="en-IN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3600" b="1" dirty="0">
                <a:latin typeface="Times New Roman"/>
                <a:cs typeface="Times New Roman"/>
              </a:rPr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138ED38-3BC5-33F5-CDCB-ECFBBB7428EA}"/>
              </a:ext>
            </a:extLst>
          </p:cNvPr>
          <p:cNvSpPr txBox="1"/>
          <p:nvPr/>
        </p:nvSpPr>
        <p:spPr>
          <a:xfrm>
            <a:off x="527540" y="1465385"/>
            <a:ext cx="11048998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Times New Roman"/>
                <a:cs typeface="Times New Roman"/>
              </a:rPr>
              <a:t>Traditional healthcare systems often depend on </a:t>
            </a:r>
            <a:r>
              <a:rPr lang="en-US" b="1">
                <a:latin typeface="Times New Roman"/>
                <a:cs typeface="Times New Roman"/>
              </a:rPr>
              <a:t>manual and disconnected processes</a:t>
            </a:r>
            <a:r>
              <a:rPr lang="en-US">
                <a:latin typeface="Times New Roman"/>
                <a:cs typeface="Times New Roman"/>
              </a:rPr>
              <a:t> for patient assistance, healthcare provider selection, appointment management, and referral coordination. This can result in </a:t>
            </a:r>
            <a:r>
              <a:rPr lang="en-US" b="1">
                <a:latin typeface="Times New Roman"/>
                <a:cs typeface="Times New Roman"/>
              </a:rPr>
              <a:t>delayed responses, inefficient healthcare service coordination, difficulty identifying suitable healthcare providers, and limited personalized assistance</a:t>
            </a:r>
            <a:r>
              <a:rPr lang="en-US">
                <a:latin typeface="Times New Roman"/>
                <a:cs typeface="Times New Roman"/>
              </a:rPr>
              <a:t>. Therefore, there is a need for an </a:t>
            </a:r>
            <a:r>
              <a:rPr lang="en-US" b="1">
                <a:latin typeface="Times New Roman"/>
                <a:cs typeface="Times New Roman"/>
              </a:rPr>
              <a:t>intelligent, automated, and scalable platform</a:t>
            </a:r>
            <a:r>
              <a:rPr lang="en-US">
                <a:latin typeface="Times New Roman"/>
                <a:cs typeface="Times New Roman"/>
              </a:rPr>
              <a:t> that can provide personalized healthcare assistance and efficiently manage the referral process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3600" b="1" dirty="0">
                <a:latin typeface="Times New Roman"/>
                <a:cs typeface="Times New Roman"/>
              </a:rPr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5EB8D6C-8934-7C99-CD32-4E14B389D1C7}"/>
              </a:ext>
            </a:extLst>
          </p:cNvPr>
          <p:cNvSpPr txBox="1"/>
          <p:nvPr/>
        </p:nvSpPr>
        <p:spPr>
          <a:xfrm>
            <a:off x="677334" y="1185333"/>
            <a:ext cx="10540999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r>
              <a:rPr lang="en-US" b="1" dirty="0">
                <a:latin typeface="Times New Roman"/>
                <a:cs typeface="Times New Roman"/>
              </a:rPr>
              <a:t>Develop an Agentic AI healthcare assistant</a:t>
            </a:r>
            <a:r>
              <a:rPr lang="en-US" dirty="0">
                <a:latin typeface="Times New Roman"/>
                <a:cs typeface="Times New Roman"/>
              </a:rPr>
              <a:t> using </a:t>
            </a:r>
            <a:r>
              <a:rPr lang="en-US" b="1" dirty="0">
                <a:latin typeface="Times New Roman"/>
                <a:cs typeface="Times New Roman"/>
              </a:rPr>
              <a:t>Gemini and </a:t>
            </a:r>
            <a:r>
              <a:rPr lang="en-US" b="1" dirty="0" err="1">
                <a:latin typeface="Times New Roman"/>
                <a:cs typeface="Times New Roman"/>
              </a:rPr>
              <a:t>LangGraph</a:t>
            </a:r>
            <a:r>
              <a:rPr lang="en-US" dirty="0">
                <a:latin typeface="Times New Roman"/>
                <a:cs typeface="Times New Roman"/>
              </a:rPr>
              <a:t> to understand and process user healthcare queries. 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 b="1">
                <a:latin typeface="Times New Roman"/>
                <a:cs typeface="Times New Roman"/>
              </a:rPr>
              <a:t>Automate intelligent referral management</a:t>
            </a:r>
            <a:r>
              <a:rPr lang="en-US">
                <a:latin typeface="Times New Roman"/>
                <a:cs typeface="Times New Roman"/>
              </a:rPr>
              <a:t> by supporting context gathering, risk assessment, doctor search, referral decisions, and emergency escalation. 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 b="1">
                <a:latin typeface="Times New Roman"/>
                <a:cs typeface="Times New Roman"/>
              </a:rPr>
              <a:t>Build a scalable microservices architecture</a:t>
            </a:r>
            <a:r>
              <a:rPr lang="en-US">
                <a:latin typeface="Times New Roman"/>
                <a:cs typeface="Times New Roman"/>
              </a:rPr>
              <a:t> using </a:t>
            </a:r>
            <a:r>
              <a:rPr lang="en-US" b="1">
                <a:latin typeface="Times New Roman"/>
                <a:cs typeface="Times New Roman"/>
              </a:rPr>
              <a:t>Spring Boot 3, Spring Cloud, Netflix Eureka, and Spring Cloud Gateway</a:t>
            </a:r>
            <a:r>
              <a:rPr lang="en-US">
                <a:latin typeface="Times New Roman"/>
                <a:cs typeface="Times New Roman"/>
              </a:rPr>
              <a:t>. 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 b="1">
                <a:latin typeface="Times New Roman"/>
                <a:cs typeface="Times New Roman"/>
              </a:rPr>
              <a:t>Provide secure healthcare services</a:t>
            </a:r>
            <a:r>
              <a:rPr lang="en-US">
                <a:latin typeface="Times New Roman"/>
                <a:cs typeface="Times New Roman"/>
              </a:rPr>
              <a:t> using </a:t>
            </a:r>
            <a:r>
              <a:rPr lang="en-US" b="1">
                <a:latin typeface="Times New Roman"/>
                <a:cs typeface="Times New Roman"/>
              </a:rPr>
              <a:t>JWT authentication and role-based authorization</a:t>
            </a:r>
            <a:r>
              <a:rPr lang="en-US">
                <a:latin typeface="Times New Roman"/>
                <a:cs typeface="Times New Roman"/>
              </a:rPr>
              <a:t>. 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 b="1">
                <a:latin typeface="Times New Roman"/>
                <a:cs typeface="Times New Roman"/>
              </a:rPr>
              <a:t>Develop a responsive React.js interface</a:t>
            </a:r>
            <a:r>
              <a:rPr lang="en-US">
                <a:latin typeface="Times New Roman"/>
                <a:cs typeface="Times New Roman"/>
              </a:rPr>
              <a:t> for patients and healthcare providers to access healthcare assistance, appointments, referrals, and notifications. 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 b="1">
                <a:latin typeface="Times New Roman"/>
                <a:cs typeface="Times New Roman"/>
              </a:rPr>
              <a:t>Implement reliable data management</a:t>
            </a:r>
            <a:r>
              <a:rPr lang="en-US">
                <a:latin typeface="Times New Roman"/>
                <a:cs typeface="Times New Roman"/>
              </a:rPr>
              <a:t> using MongoDB with modular service-level data handling. 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 b="1">
                <a:latin typeface="Times New Roman"/>
                <a:cs typeface="Times New Roman"/>
              </a:rPr>
              <a:t>Enable automated deployment and testing</a:t>
            </a:r>
            <a:r>
              <a:rPr lang="en-US">
                <a:latin typeface="Times New Roman"/>
                <a:cs typeface="Times New Roman"/>
              </a:rPr>
              <a:t> using Docker, GitHub Actions, and Postman Agent Mode.</a:t>
            </a:r>
          </a:p>
          <a:p>
            <a:pPr algn="ctr"/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85494557"/>
              </p:ext>
            </p:extLst>
          </p:nvPr>
        </p:nvGraphicFramePr>
        <p:xfrm>
          <a:off x="274646" y="689466"/>
          <a:ext cx="11642702" cy="463905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959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83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3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lvl="0" algn="l">
                        <a:buNone/>
                      </a:pPr>
                      <a:r>
                        <a:rPr lang="en-IN" sz="1400" b="0" i="0" u="none" strike="noStrike" kern="1200" noProof="0">
                          <a:solidFill>
                            <a:srgbClr val="FF0000"/>
                          </a:solidFill>
                          <a:effectLst/>
                        </a:rPr>
                        <a:t>Jiang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400" b="0" i="0" u="none" strike="noStrike" kern="1200" noProof="0">
                          <a:solidFill>
                            <a:srgbClr val="FF0000"/>
                          </a:solidFill>
                          <a:effectLst/>
                        </a:rPr>
                        <a:t>A Taxonomy and Systematic Review</a:t>
                      </a:r>
                      <a:endParaRPr lang="en-IN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u="none" strike="noStrike" kern="1200" noProof="0" dirty="0">
                          <a:solidFill>
                            <a:srgbClr val="FF0000"/>
                          </a:solidFill>
                          <a:effectLst/>
                        </a:rPr>
                        <a:t>Reviewed applications of LLMs in healthcare and </a:t>
                      </a:r>
                      <a:r>
                        <a:rPr lang="en-IN" sz="1400" b="0" i="0" u="none" strike="noStrike" kern="1200" noProof="0" dirty="0" err="1">
                          <a:solidFill>
                            <a:srgbClr val="FF0000"/>
                          </a:solidFill>
                          <a:effectLst/>
                        </a:rPr>
                        <a:t>analyzed</a:t>
                      </a:r>
                      <a:r>
                        <a:rPr lang="en-IN" sz="1400" b="0" i="0" u="none" strike="noStrike" kern="1200" noProof="0" dirty="0">
                          <a:solidFill>
                            <a:srgbClr val="FF0000"/>
                          </a:solidFill>
                          <a:effectLst/>
                        </a:rPr>
                        <a:t> their capabilities and challenges.</a:t>
                      </a:r>
                      <a:endParaRPr lang="en-US" dirty="0"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u="none" strike="noStrike" kern="1200" noProof="0">
                          <a:solidFill>
                            <a:srgbClr val="FF0000"/>
                          </a:solidFill>
                          <a:effectLst/>
                        </a:rPr>
                        <a:t>LLMs can support healthcare information, communication, and decision assistance.</a:t>
                      </a:r>
                      <a:endParaRPr lang="en-US" sz="1400" b="0" i="0" u="none" strike="noStrike" kern="1200" noProof="0">
                        <a:solidFill>
                          <a:srgbClr val="FF0000"/>
                        </a:solidFill>
                        <a:effectLst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u="none" strike="noStrike" kern="1200" noProof="0">
                          <a:solidFill>
                            <a:srgbClr val="FF0000"/>
                          </a:solidFill>
                          <a:effectLst/>
                        </a:rPr>
                        <a:t>Reliability, privacy, safety, and domain-specific validation remain important challenges.</a:t>
                      </a:r>
                      <a:endParaRPr lang="en-US" sz="1400" b="0" i="0" u="none" kern="1200">
                        <a:solidFill>
                          <a:srgbClr val="FF0000"/>
                        </a:solidFill>
                        <a:effectLst/>
                        <a:latin typeface="Times New Roman"/>
                        <a:ea typeface="+mn-ea"/>
                        <a:cs typeface="Times New Roman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lvl="0" algn="l">
                        <a:buNone/>
                      </a:pPr>
                      <a:r>
                        <a:rPr lang="en-IN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Singhal et al.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400" b="0" i="0" u="none" strike="noStrike" kern="1200" noProof="0">
                          <a:solidFill>
                            <a:schemeClr val="tx1"/>
                          </a:solidFill>
                          <a:effectLst/>
                        </a:rPr>
                        <a:t>Large Language Models Encode Clinical Knowledge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noProof="0" dirty="0">
                          <a:solidFill>
                            <a:schemeClr val="dk1"/>
                          </a:solidFill>
                          <a:effectLst/>
                        </a:rPr>
                        <a:t>Evaluated Google’s Med-</a:t>
                      </a:r>
                      <a:r>
                        <a:rPr lang="en-US" sz="1400" b="0" i="0" u="none" strike="noStrike" kern="1200" noProof="0" dirty="0" err="1">
                          <a:solidFill>
                            <a:schemeClr val="dk1"/>
                          </a:solidFill>
                          <a:effectLst/>
                        </a:rPr>
                        <a:t>PaLM</a:t>
                      </a:r>
                      <a:r>
                        <a:rPr lang="en-US" sz="1400" b="0" i="0" u="none" strike="noStrike" kern="1200" noProof="0" dirty="0">
                          <a:solidFill>
                            <a:schemeClr val="dk1"/>
                          </a:solidFill>
                          <a:effectLst/>
                        </a:rPr>
                        <a:t> on medical question-answering benchmarks.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Demonstrated the potential of LLMs for answering medical questions and supporting clinical knowledge tasks.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noProof="0">
                          <a:solidFill>
                            <a:schemeClr val="tx1"/>
                          </a:solidFill>
                          <a:effectLst/>
                        </a:rPr>
                        <a:t>Requires stronger clinical evaluation and safety mechanisms before real-world deployment.</a:t>
                      </a: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lvl="0" algn="l">
                        <a:buNone/>
                      </a:pPr>
                      <a:r>
                        <a:rPr lang="en-IN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Thirunavukarasu et al.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400" b="0" i="0" u="none" strike="noStrike" kern="1200" noProof="0">
                          <a:solidFill>
                            <a:schemeClr val="tx1"/>
                          </a:solidFill>
                          <a:effectLst/>
                        </a:rPr>
                        <a:t>Large Language Models in Medicine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Surveyed applications of large language models across medical domains.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LLMs show potential for clinical documentation, education, communication, and decision support.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noProof="0">
                          <a:solidFill>
                            <a:schemeClr val="tx1"/>
                          </a:solidFill>
                          <a:effectLst/>
                        </a:rPr>
                        <a:t>Hallucination, bias, privacy, and clinical reliability require further research.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3600" b="1" dirty="0">
                <a:latin typeface="Times New Roman"/>
                <a:cs typeface="Times New Roman"/>
              </a:rPr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8B05109-0550-F5E9-E00A-DB2F32A224BD}"/>
              </a:ext>
            </a:extLst>
          </p:cNvPr>
          <p:cNvSpPr txBox="1"/>
          <p:nvPr/>
        </p:nvSpPr>
        <p:spPr>
          <a:xfrm>
            <a:off x="625231" y="1592384"/>
            <a:ext cx="10384692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r>
              <a:rPr lang="en-US">
                <a:latin typeface="Times New Roman"/>
                <a:cs typeface="Times New Roman"/>
              </a:rPr>
              <a:t>Existing healthcare systems often use </a:t>
            </a:r>
            <a:r>
              <a:rPr lang="en-US" b="1">
                <a:latin typeface="Times New Roman"/>
                <a:cs typeface="Times New Roman"/>
              </a:rPr>
              <a:t>separate and disconnected services</a:t>
            </a:r>
            <a:r>
              <a:rPr lang="en-US">
                <a:latin typeface="Times New Roman"/>
                <a:cs typeface="Times New Roman"/>
              </a:rPr>
              <a:t> for patient care, appointments, providers, and referrals. </a:t>
            </a:r>
            <a:endParaRPr lang="en-US" dirty="0">
              <a:latin typeface="Times New Roman"/>
              <a:cs typeface="Times New Roman"/>
            </a:endParaRPr>
          </a:p>
          <a:p>
            <a:endParaRPr lang="en-US" dirty="0">
              <a:latin typeface="Times New Roman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>
                <a:latin typeface="Times New Roman"/>
                <a:cs typeface="Times New Roman"/>
              </a:rPr>
              <a:t>Traditional systems provide </a:t>
            </a:r>
            <a:r>
              <a:rPr lang="en-US" b="1">
                <a:latin typeface="Times New Roman"/>
                <a:cs typeface="Times New Roman"/>
              </a:rPr>
              <a:t>limited intelligent and personalized assistance</a:t>
            </a:r>
            <a:r>
              <a:rPr lang="en-US">
                <a:latin typeface="Times New Roman"/>
                <a:cs typeface="Times New Roman"/>
              </a:rPr>
              <a:t> to patients.</a:t>
            </a:r>
            <a:endParaRPr lang="en-US" dirty="0">
              <a:latin typeface="Times New Roman"/>
              <a:cs typeface="Times New Roman"/>
            </a:endParaRPr>
          </a:p>
          <a:p>
            <a:endParaRPr lang="en-US" dirty="0">
              <a:latin typeface="Times New Roman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>
                <a:latin typeface="Times New Roman"/>
                <a:cs typeface="Times New Roman"/>
              </a:rPr>
              <a:t>Most healthcare chatbots mainly support </a:t>
            </a:r>
            <a:r>
              <a:rPr lang="en-US" b="1">
                <a:latin typeface="Times New Roman"/>
                <a:cs typeface="Times New Roman"/>
              </a:rPr>
              <a:t>basic query answering</a:t>
            </a:r>
            <a:r>
              <a:rPr lang="en-US">
                <a:latin typeface="Times New Roman"/>
                <a:cs typeface="Times New Roman"/>
              </a:rPr>
              <a:t> rather than multi-step task coordination. </a:t>
            </a:r>
            <a:endParaRPr lang="en-US" dirty="0">
              <a:latin typeface="Times New Roman"/>
              <a:cs typeface="Times New Roman"/>
            </a:endParaRPr>
          </a:p>
          <a:p>
            <a:endParaRPr lang="en-US" dirty="0">
              <a:latin typeface="Times New Roman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>
                <a:latin typeface="Times New Roman"/>
                <a:cs typeface="Times New Roman"/>
              </a:rPr>
              <a:t>Referral processes often lack </a:t>
            </a:r>
            <a:r>
              <a:rPr lang="en-US" b="1">
                <a:latin typeface="Times New Roman"/>
                <a:cs typeface="Times New Roman"/>
              </a:rPr>
              <a:t>intelligent provider matching, risk assessment, and automated decision-making</a:t>
            </a:r>
            <a:r>
              <a:rPr lang="en-US">
                <a:latin typeface="Times New Roman"/>
                <a:cs typeface="Times New Roman"/>
              </a:rPr>
              <a:t>. </a:t>
            </a:r>
            <a:endParaRPr lang="en-US" dirty="0">
              <a:latin typeface="Times New Roman"/>
              <a:cs typeface="Times New Roman"/>
            </a:endParaRPr>
          </a:p>
          <a:p>
            <a:endParaRPr lang="en-US" dirty="0">
              <a:latin typeface="Times New Roman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>
                <a:latin typeface="Times New Roman"/>
                <a:cs typeface="Times New Roman"/>
              </a:rPr>
              <a:t>There is a need for a </a:t>
            </a:r>
            <a:r>
              <a:rPr lang="en-US" b="1">
                <a:latin typeface="Times New Roman"/>
                <a:cs typeface="Times New Roman"/>
              </a:rPr>
              <a:t>scalable microservices-based platform integrated with Agentic AI</a:t>
            </a:r>
            <a:r>
              <a:rPr lang="en-US">
                <a:latin typeface="Times New Roman"/>
                <a:cs typeface="Times New Roman"/>
              </a:rPr>
              <a:t> to coordinate healthcare assistance and referral workflows. </a:t>
            </a:r>
            <a:endParaRPr lang="en-US" dirty="0">
              <a:latin typeface="Times New Roman"/>
              <a:cs typeface="Times New Roman"/>
            </a:endParaRPr>
          </a:p>
          <a:p>
            <a:endParaRPr lang="en-US" dirty="0">
              <a:latin typeface="Times New Roman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 dirty="0">
                <a:latin typeface="Times New Roman"/>
                <a:cs typeface="Times New Roman"/>
              </a:rPr>
              <a:t>The proposed system addresses this gap by combining </a:t>
            </a:r>
            <a:r>
              <a:rPr lang="en-US" b="1" dirty="0">
                <a:latin typeface="Times New Roman"/>
                <a:cs typeface="Times New Roman"/>
              </a:rPr>
              <a:t>Gemini, </a:t>
            </a:r>
            <a:r>
              <a:rPr lang="en-US" b="1" dirty="0" err="1">
                <a:latin typeface="Times New Roman"/>
                <a:cs typeface="Times New Roman"/>
              </a:rPr>
              <a:t>LangGraph</a:t>
            </a:r>
            <a:r>
              <a:rPr lang="en-US" b="1" dirty="0">
                <a:latin typeface="Times New Roman"/>
                <a:cs typeface="Times New Roman"/>
              </a:rPr>
              <a:t>, intelligent agents, and microservices</a:t>
            </a:r>
            <a:r>
              <a:rPr lang="en-US" dirty="0">
                <a:latin typeface="Times New Roman"/>
                <a:cs typeface="Times New Roman"/>
              </a:rPr>
              <a:t> for automated and personalized healthcare referral management.</a:t>
            </a:r>
          </a:p>
          <a:p>
            <a:pPr algn="ctr"/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3600" b="1" dirty="0">
                <a:latin typeface="Times New Roman"/>
                <a:cs typeface="Times New Roman"/>
              </a:rPr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3F5F081-8040-7ED2-404C-CAE30D24D8D1}"/>
              </a:ext>
            </a:extLst>
          </p:cNvPr>
          <p:cNvSpPr txBox="1"/>
          <p:nvPr/>
        </p:nvSpPr>
        <p:spPr>
          <a:xfrm>
            <a:off x="762000" y="1365250"/>
            <a:ext cx="10075333" cy="61863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r>
              <a:rPr lang="en-US" b="1" dirty="0">
                <a:latin typeface="Times New Roman"/>
                <a:cs typeface="Times New Roman"/>
              </a:rPr>
              <a:t>Agentic AI Workflow:</a:t>
            </a:r>
            <a:r>
              <a:rPr lang="en-US" dirty="0">
                <a:latin typeface="Times New Roman"/>
                <a:cs typeface="Times New Roman"/>
              </a:rPr>
              <a:t> Uses </a:t>
            </a:r>
            <a:r>
              <a:rPr lang="en-US" b="1" dirty="0">
                <a:latin typeface="Times New Roman"/>
                <a:cs typeface="Times New Roman"/>
              </a:rPr>
              <a:t>Gemini and </a:t>
            </a:r>
            <a:r>
              <a:rPr lang="en-US" b="1" dirty="0" err="1">
                <a:latin typeface="Times New Roman"/>
                <a:cs typeface="Times New Roman"/>
              </a:rPr>
              <a:t>LangGraph</a:t>
            </a:r>
            <a:r>
              <a:rPr lang="en-US" dirty="0">
                <a:latin typeface="Times New Roman"/>
                <a:cs typeface="Times New Roman"/>
              </a:rPr>
              <a:t> to coordinate multi-step healthcare tasks instead of simple chatbot responses. 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 b="1">
                <a:latin typeface="Times New Roman"/>
                <a:cs typeface="Times New Roman"/>
              </a:rPr>
              <a:t>Intelligent Referral Management:</a:t>
            </a:r>
            <a:r>
              <a:rPr lang="en-US">
                <a:latin typeface="Times New Roman"/>
                <a:cs typeface="Times New Roman"/>
              </a:rPr>
              <a:t> Supports </a:t>
            </a:r>
            <a:r>
              <a:rPr lang="en-US" b="1">
                <a:latin typeface="Times New Roman"/>
                <a:cs typeface="Times New Roman"/>
              </a:rPr>
              <a:t>risk assessment, doctor search, referral decisions, and emergency escalation</a:t>
            </a:r>
            <a:r>
              <a:rPr lang="en-US">
                <a:latin typeface="Times New Roman"/>
                <a:cs typeface="Times New Roman"/>
              </a:rPr>
              <a:t> through an AI-driven workflow. </a:t>
            </a:r>
            <a:endParaRPr lang="en-US" dirty="0">
              <a:latin typeface="Times New Roman"/>
              <a:cs typeface="Times New Roman"/>
            </a:endParaRPr>
          </a:p>
          <a:p>
            <a:endParaRPr lang="en-US" dirty="0">
              <a:latin typeface="Times New Roman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 b="1">
                <a:latin typeface="Times New Roman"/>
                <a:cs typeface="Times New Roman"/>
              </a:rPr>
              <a:t>Microservices Architecture:</a:t>
            </a:r>
            <a:r>
              <a:rPr lang="en-US">
                <a:latin typeface="Times New Roman"/>
                <a:cs typeface="Times New Roman"/>
              </a:rPr>
              <a:t> Uses </a:t>
            </a:r>
            <a:r>
              <a:rPr lang="en-US" b="1">
                <a:latin typeface="Times New Roman"/>
                <a:cs typeface="Times New Roman"/>
              </a:rPr>
              <a:t>Spring Boot 3, Spring Cloud, Netflix Eureka, and Spring Cloud Gateway</a:t>
            </a:r>
            <a:r>
              <a:rPr lang="en-US">
                <a:latin typeface="Times New Roman"/>
                <a:cs typeface="Times New Roman"/>
              </a:rPr>
              <a:t> for a modular and scalable healthcare platform. </a:t>
            </a:r>
            <a:endParaRPr lang="en-US" dirty="0">
              <a:latin typeface="Times New Roman"/>
              <a:cs typeface="Times New Roman"/>
            </a:endParaRPr>
          </a:p>
          <a:p>
            <a:endParaRPr lang="en-US" dirty="0">
              <a:latin typeface="Times New Roman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 b="1">
                <a:latin typeface="Times New Roman"/>
                <a:cs typeface="Times New Roman"/>
              </a:rPr>
              <a:t>Personalized Assistance:</a:t>
            </a:r>
            <a:r>
              <a:rPr lang="en-US">
                <a:latin typeface="Times New Roman"/>
                <a:cs typeface="Times New Roman"/>
              </a:rPr>
              <a:t> Processes user requirements and context to provide </a:t>
            </a:r>
            <a:r>
              <a:rPr lang="en-US" b="1">
                <a:latin typeface="Times New Roman"/>
                <a:cs typeface="Times New Roman"/>
              </a:rPr>
              <a:t>relevant healthcare guidance and provider recommendations</a:t>
            </a:r>
            <a:r>
              <a:rPr lang="en-US">
                <a:latin typeface="Times New Roman"/>
                <a:cs typeface="Times New Roman"/>
              </a:rPr>
              <a:t>. </a:t>
            </a:r>
            <a:endParaRPr lang="en-US" dirty="0">
              <a:latin typeface="Times New Roman"/>
              <a:cs typeface="Times New Roman"/>
            </a:endParaRPr>
          </a:p>
          <a:p>
            <a:endParaRPr lang="en-US" dirty="0">
              <a:latin typeface="Times New Roman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 b="1">
                <a:latin typeface="Times New Roman"/>
                <a:cs typeface="Times New Roman"/>
              </a:rPr>
              <a:t>Secure Healthcare Platform:</a:t>
            </a:r>
            <a:r>
              <a:rPr lang="en-US">
                <a:latin typeface="Times New Roman"/>
                <a:cs typeface="Times New Roman"/>
              </a:rPr>
              <a:t> Implements </a:t>
            </a:r>
            <a:r>
              <a:rPr lang="en-US" b="1">
                <a:latin typeface="Times New Roman"/>
                <a:cs typeface="Times New Roman"/>
              </a:rPr>
              <a:t>JWT authentication and role-based authorization</a:t>
            </a:r>
            <a:r>
              <a:rPr lang="en-US">
                <a:latin typeface="Times New Roman"/>
                <a:cs typeface="Times New Roman"/>
              </a:rPr>
              <a:t> for controlled access to healthcare services. </a:t>
            </a:r>
            <a:endParaRPr lang="en-US" dirty="0">
              <a:latin typeface="Times New Roman"/>
              <a:cs typeface="Times New Roman"/>
            </a:endParaRPr>
          </a:p>
          <a:p>
            <a:endParaRPr lang="en-US" dirty="0">
              <a:latin typeface="Times New Roman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 b="1" dirty="0">
                <a:latin typeface="Times New Roman"/>
                <a:cs typeface="Times New Roman"/>
              </a:rPr>
              <a:t>Modern &amp; Automated Development:</a:t>
            </a:r>
            <a:r>
              <a:rPr lang="en-US" dirty="0">
                <a:latin typeface="Times New Roman"/>
                <a:cs typeface="Times New Roman"/>
              </a:rPr>
              <a:t> Uses </a:t>
            </a:r>
            <a:r>
              <a:rPr lang="en-US" b="1" dirty="0">
                <a:latin typeface="Times New Roman"/>
                <a:cs typeface="Times New Roman"/>
              </a:rPr>
              <a:t>React.js, Docker, GitHub Actions, GitHub Copilot, </a:t>
            </a:r>
            <a:r>
              <a:rPr lang="en-US" b="1" dirty="0" err="1">
                <a:latin typeface="Times New Roman"/>
                <a:cs typeface="Times New Roman"/>
              </a:rPr>
              <a:t>Lucidchart</a:t>
            </a:r>
            <a:r>
              <a:rPr lang="en-US" b="1" dirty="0">
                <a:latin typeface="Times New Roman"/>
                <a:cs typeface="Times New Roman"/>
              </a:rPr>
              <a:t> AI, Jira, and Postman Agent Mode</a:t>
            </a:r>
            <a:r>
              <a:rPr lang="en-US" dirty="0">
                <a:latin typeface="Times New Roman"/>
                <a:cs typeface="Times New Roman"/>
              </a:rPr>
              <a:t> to support development, design, testing, and deployment. 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endParaRPr lang="en-US" dirty="0">
              <a:latin typeface="Times New Roman"/>
              <a:cs typeface="Times New Roman"/>
            </a:endParaRPr>
          </a:p>
          <a:p>
            <a:endParaRPr lang="en-US" dirty="0">
              <a:latin typeface="Times New Roman"/>
              <a:cs typeface="Times New Roman"/>
            </a:endParaRPr>
          </a:p>
          <a:p>
            <a:endParaRPr lang="en-US" dirty="0">
              <a:latin typeface="Times New Roman"/>
              <a:cs typeface="Times New Roman"/>
            </a:endParaRPr>
          </a:p>
          <a:p>
            <a:pPr algn="ctr"/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4000" b="1" dirty="0">
                <a:latin typeface="Times New Roman"/>
                <a:cs typeface="Times New Roman"/>
              </a:rPr>
              <a:t>Feasibility and Project Plan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059B28-C956-718D-DA1F-B1313887E0C2}"/>
              </a:ext>
            </a:extLst>
          </p:cNvPr>
          <p:cNvSpPr txBox="1"/>
          <p:nvPr/>
        </p:nvSpPr>
        <p:spPr>
          <a:xfrm>
            <a:off x="1026583" y="1714501"/>
            <a:ext cx="6096000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Technical Feasibility:</a:t>
            </a:r>
            <a:r>
              <a:rPr lang="en-US" dirty="0">
                <a:latin typeface="Times New Roman"/>
                <a:cs typeface="Times New Roman"/>
              </a:rPr>
              <a:t> </a:t>
            </a:r>
            <a:endParaRPr lang="en-US"/>
          </a:p>
          <a:p>
            <a:r>
              <a:rPr lang="en-US" dirty="0">
                <a:latin typeface="Times New Roman"/>
                <a:cs typeface="Times New Roman"/>
              </a:rPr>
              <a:t>The project can be implemented using Spring Boot 3, Spring Cloud, React.js, MongoDB, Gemini, and </a:t>
            </a:r>
            <a:r>
              <a:rPr lang="en-US" dirty="0" err="1">
                <a:latin typeface="Times New Roman"/>
                <a:cs typeface="Times New Roman"/>
              </a:rPr>
              <a:t>LangGraph</a:t>
            </a:r>
            <a:r>
              <a:rPr lang="en-US" dirty="0">
                <a:latin typeface="Times New Roman"/>
                <a:cs typeface="Times New Roman"/>
              </a:rPr>
              <a:t>. Netflix Eureka, Spring Cloud Gateway, JWT, Docker, and GitHub Actions support service discovery, security, deployment, and automation.</a:t>
            </a:r>
            <a:endParaRPr lang="en-US"/>
          </a:p>
          <a:p>
            <a:endParaRPr lang="en-US" dirty="0">
              <a:latin typeface="Times New Roman"/>
              <a:cs typeface="Times New Roman"/>
            </a:endParaRPr>
          </a:p>
          <a:p>
            <a:r>
              <a:rPr lang="en-US" b="1">
                <a:latin typeface="Times New Roman"/>
                <a:cs typeface="Times New Roman"/>
              </a:rPr>
              <a:t>Operational Feasibility:</a:t>
            </a:r>
            <a:r>
              <a:rPr lang="en-US" dirty="0">
                <a:latin typeface="Times New Roman"/>
                <a:cs typeface="Times New Roman"/>
              </a:rPr>
              <a:t> </a:t>
            </a:r>
          </a:p>
          <a:p>
            <a:r>
              <a:rPr lang="en-US">
                <a:latin typeface="Times New Roman"/>
                <a:cs typeface="Times New Roman"/>
              </a:rPr>
              <a:t>The platform provides an accessible interface and automates healthcare assistance and referral workflows, reducing manual coordination and improving service management.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 b="1">
                <a:latin typeface="Times New Roman"/>
                <a:cs typeface="Times New Roman"/>
              </a:rPr>
              <a:t>60-Day Project Timeline</a:t>
            </a:r>
            <a:endParaRPr lang="en-US" b="1" dirty="0">
              <a:latin typeface="Times New Roman"/>
              <a:cs typeface="Times New Roman"/>
            </a:endParaRPr>
          </a:p>
          <a:p>
            <a:endParaRPr lang="en-US" dirty="0">
              <a:latin typeface="Times New Roman"/>
              <a:cs typeface="Times New Roman"/>
            </a:endParaRPr>
          </a:p>
          <a:p>
            <a:pPr algn="ctr"/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8A7B42A-9E21-10E5-1B97-9401B5C570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8500788"/>
              </p:ext>
            </p:extLst>
          </p:nvPr>
        </p:nvGraphicFramePr>
        <p:xfrm>
          <a:off x="1018117" y="1074231"/>
          <a:ext cx="10515600" cy="5029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81278574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28262786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9728459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Phase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Activities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Duration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589288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Phase 1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Requirement Analysis &amp; Literature Survey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5 Days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4302668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Phase 2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System Architecture &amp; Database Design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7 Days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713798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Phase 3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Microservices Development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15 Days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656467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Phase 4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Agentic AI &amp; Referral Workflow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10 Days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0984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Phase 5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React.js Frontend Development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8 Days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5347637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Phase 6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Integration, JWT Security &amp; API Testing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7 Days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73628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Phase 7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Docker, GitHub Actions &amp; Final Testing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5 Days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46064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Phase 8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Documentation &amp; Final Presentation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3 Days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283652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Total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US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60 Days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5999353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3E378296-D09E-2EC0-4788-770AB3AEA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839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205</Words>
  <Application>Microsoft Office PowerPoint</Application>
  <PresentationFormat>Widescreen</PresentationFormat>
  <Paragraphs>61</Paragraphs>
  <Slides>9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lakshmi abhishiktha</cp:lastModifiedBy>
  <cp:revision>131</cp:revision>
  <dcterms:created xsi:type="dcterms:W3CDTF">2026-08-08T06:33:56Z</dcterms:created>
  <dcterms:modified xsi:type="dcterms:W3CDTF">2026-08-29T04:40:56Z</dcterms:modified>
</cp:coreProperties>
</file>